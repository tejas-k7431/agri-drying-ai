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72600" y="914400"/>
            <a:ext cx="1051560" cy="1051560"/>
          </a:xfrm>
          <a:prstGeom prst="ellipse">
            <a:avLst/>
          </a:prstGeom>
          <a:solidFill>
            <a:srgbClr val="E8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955279" y="3383280"/>
            <a:ext cx="713232" cy="1051560"/>
          </a:xfrm>
          <a:prstGeom prst="parallelogram">
            <a:avLst/>
          </a:prstGeom>
          <a:solidFill>
            <a:srgbClr val="498B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119872" y="3429000"/>
            <a:ext cx="0" cy="94183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39912" y="3429000"/>
            <a:ext cx="0" cy="94183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arallelogram 5"/>
          <p:cNvSpPr/>
          <p:nvPr/>
        </p:nvSpPr>
        <p:spPr>
          <a:xfrm>
            <a:off x="8705088" y="3383280"/>
            <a:ext cx="713232" cy="1051560"/>
          </a:xfrm>
          <a:prstGeom prst="parallelogram">
            <a:avLst/>
          </a:prstGeom>
          <a:solidFill>
            <a:srgbClr val="498B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69680" y="3429000"/>
            <a:ext cx="0" cy="94183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89720" y="3429000"/>
            <a:ext cx="0" cy="94183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allelogram 8"/>
          <p:cNvSpPr/>
          <p:nvPr/>
        </p:nvSpPr>
        <p:spPr>
          <a:xfrm>
            <a:off x="9454896" y="3383280"/>
            <a:ext cx="713232" cy="1051560"/>
          </a:xfrm>
          <a:prstGeom prst="parallelogram">
            <a:avLst/>
          </a:prstGeom>
          <a:solidFill>
            <a:srgbClr val="498B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619488" y="3429000"/>
            <a:ext cx="0" cy="94183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39528" y="3429000"/>
            <a:ext cx="0" cy="94183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1097280"/>
            <a:ext cx="7040880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IoT SMART DRYING</a:t>
            </a:r>
          </a:p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CHAMBER MONITORING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71800"/>
            <a:ext cx="64008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D2E4DB"/>
                </a:solidFill>
                <a:latin typeface="Aptos"/>
              </a:defRPr>
            </a:pPr>
            <a:r>
              <a:t>A first prototype for an AI-based agricultural produce quality and drying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68580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Presented by: [Your Name]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Department: CSE (AIML) | REVA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6858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4C6CF"/>
                </a:solidFill>
                <a:latin typeface="Aptos"/>
              </a:defRPr>
            </a:pPr>
            <a:r>
              <a:t>Project proposal • Prototype plan • Not yet a completed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B4C6C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What we plan to build in the first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Measure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Read temperature and relative humidity inside a small drying chamber.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08760"/>
            <a:ext cx="3474720" cy="182880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Connect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Send sensor readings from the ESP32 to a live dashboard over Wi-Fi.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508760"/>
            <a:ext cx="3474720" cy="1828800"/>
          </a:xfrm>
          <a:prstGeom prst="roundRect">
            <a:avLst/>
          </a:prstGeom>
          <a:solidFill>
            <a:srgbClr val="FCF4E8"/>
          </a:solidFill>
          <a:ln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Respond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Optionally switch a low-voltage fan when conditions cross set limits.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2423160"/>
            <a:ext cx="256032" cy="0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45552" y="2423160"/>
            <a:ext cx="256031" cy="0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3840480"/>
            <a:ext cx="1078992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2273F"/>
                </a:solidFill>
                <a:latin typeface="Aptos"/>
              </a:defRPr>
            </a:pPr>
            <a:r>
              <a:t>Long-term direction: extend the chamber with a camera, validated moisture measurements, and AI models to estimate produce dryness and detect visible colour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E534A"/>
                </a:solidFill>
                <a:latin typeface="Aptos"/>
              </a:defRPr>
            </a:pPr>
            <a:r>
              <a:t>Important: the first milestone monitors chamber conditions; it does not yet measure produce moisture or discoloration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Why monitor a drying process?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669280" cy="4206240"/>
          </a:xfrm>
          <a:prstGeom prst="rect">
            <a:avLst/>
          </a:prstGeom>
          <a:noFill/>
        </p:spPr>
        <p:txBody>
          <a:bodyPr wrap="square" lIns="109728" rIns="73152" tIns="73152" b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8"/>
                </a:solidFill>
                <a:latin typeface="Aptos"/>
              </a:defRPr>
            </a:pPr>
            <a:r>
              <a:t>•  Drying conditions can change with weather, airflow, loading, and time.</a:t>
            </a:r>
          </a:p>
          <a:p>
            <a:pPr>
              <a:spcAft>
                <a:spcPts val="1000"/>
              </a:spcAft>
              <a:defRPr sz="1800">
                <a:solidFill>
                  <a:srgbClr val="263038"/>
                </a:solidFill>
                <a:latin typeface="Aptos"/>
              </a:defRPr>
            </a:pPr>
            <a:r>
              <a:t>•  Manual checking may not provide continuous records of temperature and humidity.</a:t>
            </a:r>
          </a:p>
          <a:p>
            <a:pPr>
              <a:spcAft>
                <a:spcPts val="1000"/>
              </a:spcAft>
              <a:defRPr sz="1800">
                <a:solidFill>
                  <a:srgbClr val="263038"/>
                </a:solidFill>
                <a:latin typeface="Aptos"/>
              </a:defRPr>
            </a:pPr>
            <a:r>
              <a:t>•  Uneven or unsuitable drying conditions can affect drying time and product quality.</a:t>
            </a:r>
          </a:p>
          <a:p>
            <a:pPr>
              <a:spcAft>
                <a:spcPts val="1000"/>
              </a:spcAft>
              <a:defRPr sz="1800">
                <a:solidFill>
                  <a:srgbClr val="263038"/>
                </a:solidFill>
                <a:latin typeface="Aptos"/>
              </a:defRPr>
            </a:pPr>
            <a:r>
              <a:t>•  A small connected prototype can collect data and make the process easier to observe.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691640"/>
            <a:ext cx="4297680" cy="1234440"/>
          </a:xfrm>
          <a:prstGeom prst="roundRect">
            <a:avLst/>
          </a:prstGeom>
          <a:solidFill>
            <a:srgbClr val="FAF1EF"/>
          </a:solidFill>
          <a:ln>
            <a:solidFill>
              <a:srgbClr val="BE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Current approach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Occasional manual checks; limited automatic logging.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3246120"/>
            <a:ext cx="4297680" cy="123444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Proposed approach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Continuous sensor readings, a dashboard, and optional fan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4892040"/>
            <a:ext cx="41148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E6C75"/>
                </a:solidFill>
                <a:latin typeface="Aptos"/>
              </a:defRPr>
            </a:pPr>
            <a:r>
              <a:t>Goal: improve visibility and data collection—not claim guaranteed food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3. 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A realistic first milestone, followed by future upgrades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356616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900" b="1">
                <a:solidFill>
                  <a:srgbClr val="12273F"/>
                </a:solidFill>
                <a:latin typeface="Aptos Display"/>
              </a:defRPr>
            </a:pPr>
            <a:r>
              <a:t>Phase 1 — IoT prototype</a:t>
            </a:r>
          </a:p>
          <a:p>
            <a:pPr>
              <a:spcBef>
                <a:spcPts val="600"/>
              </a:spcBef>
              <a:defRPr sz="1500">
                <a:solidFill>
                  <a:srgbClr val="263038"/>
                </a:solidFill>
                <a:latin typeface="Aptos"/>
              </a:defRPr>
            </a:pPr>
            <a:r>
              <a:t>• Measure chamber temperature and humidity</a:t>
            </a:r>
            <a:br/>
            <a:r>
              <a:t>• Display readings on a web dashboard</a:t>
            </a:r>
            <a:br/>
            <a:r>
              <a:t>• Record timestamped readings</a:t>
            </a:r>
            <a:br/>
            <a:r>
              <a:t>• Add optional low-voltage fan control</a:t>
            </a:r>
            <a:br/>
            <a:r>
              <a:t>• Test sensor response under different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356616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900" b="1">
                <a:solidFill>
                  <a:srgbClr val="12273F"/>
                </a:solidFill>
                <a:latin typeface="Aptos Display"/>
              </a:defRPr>
            </a:pPr>
            <a:r>
              <a:t>Future phase — AI quality monitoring</a:t>
            </a:r>
          </a:p>
          <a:p>
            <a:pPr>
              <a:spcBef>
                <a:spcPts val="600"/>
              </a:spcBef>
              <a:defRPr sz="1500">
                <a:solidFill>
                  <a:srgbClr val="263038"/>
                </a:solidFill>
                <a:latin typeface="Aptos"/>
              </a:defRPr>
            </a:pPr>
            <a:r>
              <a:t>• Capture images of agricultural produce</a:t>
            </a:r>
            <a:br/>
            <a:r>
              <a:t>• Track visible colour changes using computer vision</a:t>
            </a:r>
            <a:br/>
            <a:r>
              <a:t>• Add reference moisture measurements for model training</a:t>
            </a:r>
            <a:br/>
            <a:r>
              <a:t>• Explore thermal or NIR sensing if justified</a:t>
            </a:r>
            <a:br/>
            <a:r>
              <a:t>• Validate model predictions on new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E534A"/>
                </a:solidFill>
                <a:latin typeface="Aptos"/>
              </a:defRPr>
            </a:pPr>
            <a:r>
              <a:t>Scope discipline: AI, camera-based discoloration detection, and direct product-moisture estimation are future extensions—not features of the basic sensor kit.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4.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How information moves through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148840" cy="123444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DHT-type sensor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Temperature + RH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148840" cy="123444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ESP32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Reads data; applies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2148840" cy="1234440"/>
          </a:xfrm>
          <a:prstGeom prst="roundRect">
            <a:avLst/>
          </a:prstGeom>
          <a:solidFill>
            <a:srgbClr val="F2EFFA"/>
          </a:solidFill>
          <a:ln>
            <a:solidFill>
              <a:srgbClr val="8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Wi-Fi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Sends readings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063240" cy="123444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Dashboard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Live values and trend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926080"/>
            <a:ext cx="3063240" cy="1234440"/>
          </a:xfrm>
          <a:prstGeom prst="roundRect">
            <a:avLst/>
          </a:prstGeom>
          <a:solidFill>
            <a:srgbClr val="FCF4E8"/>
          </a:solidFill>
          <a:ln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600" b="1">
                <a:solidFill>
                  <a:srgbClr val="12273F"/>
                </a:solidFill>
                <a:latin typeface="Aptos Display"/>
              </a:defRPr>
            </a:pPr>
            <a:r>
              <a:t>Fan driver + DC fan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Optional control output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450592"/>
            <a:ext cx="411480" cy="0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2080" y="2450592"/>
            <a:ext cx="457200" cy="0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18120" y="1874519"/>
            <a:ext cx="457200" cy="411481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33087" y="3063240"/>
            <a:ext cx="0" cy="685799"/>
          </a:xfrm>
          <a:prstGeom prst="line">
            <a:avLst/>
          </a:prstGeom>
          <a:ln w="25400">
            <a:solidFill>
              <a:srgbClr val="E8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63240" y="3749039"/>
            <a:ext cx="2148840" cy="1005840"/>
          </a:xfrm>
          <a:prstGeom prst="roundRect">
            <a:avLst/>
          </a:prstGeom>
          <a:solidFill>
            <a:srgbClr val="FCF4E8"/>
          </a:solidFill>
          <a:ln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Control rule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If threshold reached, switch fan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212080" y="3547872"/>
            <a:ext cx="3063240" cy="704088"/>
          </a:xfrm>
          <a:prstGeom prst="line">
            <a:avLst/>
          </a:prstGeom>
          <a:ln w="25400">
            <a:solidFill>
              <a:srgbClr val="E8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5303520"/>
            <a:ext cx="106984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E6C75"/>
                </a:solidFill>
                <a:latin typeface="Aptos"/>
              </a:defRPr>
            </a:pPr>
            <a:r>
              <a:t>Dashboard options: a simple local webpage, or a beginner-friendly IoT dashboard. Internet access is needed only if the chosen dashboard is cloud-hosted.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5. Components and their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Core parts for the first working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91440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ESP32 DevKit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Controller; built-in Wi-Fi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91440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DHT22 / compatible sensor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Measures temperature and relative humidity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5166360" cy="914400"/>
          </a:xfrm>
          <a:prstGeom prst="roundRect">
            <a:avLst/>
          </a:prstGeom>
          <a:solidFill>
            <a:srgbClr val="EFF6F0"/>
          </a:solidFill>
          <a:ln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5 V DC fan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Moves air through the chamber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560320"/>
            <a:ext cx="5166360" cy="914400"/>
          </a:xfrm>
          <a:prstGeom prst="roundRect">
            <a:avLst/>
          </a:prstGeom>
          <a:solidFill>
            <a:srgbClr val="E8F2F8"/>
          </a:solidFill>
          <a:ln>
            <a:solidFill>
              <a:srgbClr val="BE5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MOSFET driver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Switches fan without overloading ESP32 GPIO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5166360" cy="914400"/>
          </a:xfrm>
          <a:prstGeom prst="roundRect">
            <a:avLst/>
          </a:prstGeom>
          <a:solidFill>
            <a:srgbClr val="EFF6F0"/>
          </a:solidFill>
          <a:ln>
            <a:solidFill>
              <a:srgbClr val="5E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Breadboard + wires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Temporary circuit assembly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03320"/>
            <a:ext cx="5166360" cy="914400"/>
          </a:xfrm>
          <a:prstGeom prst="roundRect">
            <a:avLst/>
          </a:prstGeom>
          <a:solidFill>
            <a:srgbClr val="E8F2F8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USB cable + supply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Programming and safe low-voltage power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46320"/>
            <a:ext cx="5166360" cy="914400"/>
          </a:xfrm>
          <a:prstGeom prst="roundRect">
            <a:avLst/>
          </a:prstGeom>
          <a:solidFill>
            <a:srgbClr val="EFF6F0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Small enclosure + mesh tray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Holds sample produce and creates airflow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070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E534A"/>
                </a:solidFill>
                <a:latin typeface="Aptos"/>
              </a:defRPr>
            </a:pPr>
            <a:r>
              <a:t>The 37-sensor kit may supply useful extras, but check its exact contents; it does not replace the ESP32, fan, chamber, and power items.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6. Working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Step-by-step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1463039"/>
            <a:ext cx="2880360" cy="123444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Power on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ESP32 starts and connects to Wi-Fi.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1508760"/>
            <a:ext cx="502920" cy="502920"/>
          </a:xfrm>
          <a:prstGeom prst="ellipse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1463039"/>
            <a:ext cx="2880360" cy="123444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Read sensor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Temperature and humidity are sampled at intervals.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0" y="1508760"/>
            <a:ext cx="502920" cy="502920"/>
          </a:xfrm>
          <a:prstGeom prst="ellipse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1463039"/>
            <a:ext cx="2880360" cy="123444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Publish data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Values are sent to the dashboard with a timestamp.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8448" y="3520440"/>
            <a:ext cx="2880360" cy="123444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Check limits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Controller compares readings with chosen thresholds.</a:t>
            </a:r>
          </a:p>
        </p:txBody>
      </p:sp>
      <p:sp>
        <p:nvSpPr>
          <p:cNvPr id="15" name="Oval 14"/>
          <p:cNvSpPr/>
          <p:nvPr/>
        </p:nvSpPr>
        <p:spPr>
          <a:xfrm>
            <a:off x="4480560" y="3566160"/>
            <a:ext cx="502920" cy="502920"/>
          </a:xfrm>
          <a:prstGeom prst="ellipse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3520440"/>
            <a:ext cx="2880360" cy="123444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Control fan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If enabled, the driver switches the DC fan.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3566160"/>
            <a:ext cx="502920" cy="502920"/>
          </a:xfrm>
          <a:prstGeom prst="ellipse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3520440"/>
            <a:ext cx="2880360" cy="123444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500" b="1">
                <a:solidFill>
                  <a:srgbClr val="12273F"/>
                </a:solidFill>
                <a:latin typeface="Aptos Display"/>
              </a:defRPr>
            </a:pPr>
            <a:r>
              <a:t>Review trends</a:t>
            </a:r>
          </a:p>
          <a:p>
            <a:pPr>
              <a:spcBef>
                <a:spcPts val="600"/>
              </a:spcBef>
              <a:defRPr sz="1100">
                <a:solidFill>
                  <a:srgbClr val="263038"/>
                </a:solidFill>
                <a:latin typeface="Aptos"/>
              </a:defRPr>
            </a:pPr>
            <a:r>
              <a:t>User checks whether conditions change over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E534A"/>
                </a:solidFill>
                <a:latin typeface="Aptos"/>
              </a:defRPr>
            </a:pPr>
            <a:r>
              <a:t>Thresholds must be selected and tested for the intended produce; there is no single safe setting for every crop.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7. Software and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Beginner-friendly development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137160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Arduino IDE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Write and upload ESP32 firmware.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08760"/>
            <a:ext cx="3474720" cy="137160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Serial Monitor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Check readings and debug sensor wiring.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474720" cy="1371600"/>
          </a:xfrm>
          <a:prstGeom prst="roundRect">
            <a:avLst/>
          </a:prstGeom>
          <a:solidFill>
            <a:srgbClr val="F2EFFA"/>
          </a:solidFill>
          <a:ln>
            <a:solidFill>
              <a:srgbClr val="8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Web / IoT dashboard</a:t>
            </a:r>
          </a:p>
          <a:p>
            <a:pPr>
              <a:spcBef>
                <a:spcPts val="600"/>
              </a:spcBef>
              <a:defRPr sz="1200">
                <a:solidFill>
                  <a:srgbClr val="263038"/>
                </a:solidFill>
                <a:latin typeface="Aptos"/>
              </a:defRPr>
            </a:pPr>
            <a:r>
              <a:t>View live values and charts.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194560"/>
            <a:ext cx="210312" cy="0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45552" y="2194560"/>
            <a:ext cx="201168" cy="0"/>
          </a:xfrm>
          <a:prstGeom prst="line">
            <a:avLst/>
          </a:prstGeom>
          <a:ln w="2540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 lIns="109728" rIns="73152" tIns="73152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38"/>
                </a:solidFill>
                <a:latin typeface="Aptos"/>
              </a:defRPr>
            </a:pPr>
            <a:r>
              <a:t>•  Firmware: Arduino framework for ESP32 (C/C++ style).</a:t>
            </a:r>
          </a:p>
          <a:p>
            <a:pPr>
              <a:spcAft>
                <a:spcPts val="1000"/>
              </a:spcAft>
              <a:defRPr sz="1600">
                <a:solidFill>
                  <a:srgbClr val="263038"/>
                </a:solidFill>
                <a:latin typeface="Aptos"/>
              </a:defRPr>
            </a:pPr>
            <a:r>
              <a:t>•  Dashboard: begin with a simple local webpage or a supported IoT dashboard.</a:t>
            </a:r>
          </a:p>
          <a:p>
            <a:pPr>
              <a:spcAft>
                <a:spcPts val="1000"/>
              </a:spcAft>
              <a:defRPr sz="1600">
                <a:solidFill>
                  <a:srgbClr val="263038"/>
                </a:solidFill>
                <a:latin typeface="Aptos"/>
              </a:defRPr>
            </a:pPr>
            <a:r>
              <a:t>•  Data logging: store timestamp, temperature, humidity, fan state, and notes.</a:t>
            </a:r>
          </a:p>
          <a:p>
            <a:pPr>
              <a:spcAft>
                <a:spcPts val="1000"/>
              </a:spcAft>
              <a:defRPr sz="1600">
                <a:solidFill>
                  <a:srgbClr val="263038"/>
                </a:solidFill>
                <a:latin typeface="Aptos"/>
              </a:defRPr>
            </a:pPr>
            <a:r>
              <a:t>•  Future AI: Python, OpenCV, and a model framework after collecting labelled samples.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8. Data collection and testing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Show your teacher how you will verify that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356616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800" b="1">
                <a:solidFill>
                  <a:srgbClr val="12273F"/>
                </a:solidFill>
                <a:latin typeface="Aptos Display"/>
              </a:defRPr>
            </a:pPr>
            <a:r>
              <a:t>Data to record</a:t>
            </a:r>
          </a:p>
          <a:p>
            <a:pPr>
              <a:spcBef>
                <a:spcPts val="600"/>
              </a:spcBef>
              <a:defRPr sz="1500">
                <a:solidFill>
                  <a:srgbClr val="263038"/>
                </a:solidFill>
                <a:latin typeface="Aptos"/>
              </a:defRPr>
            </a:pPr>
            <a:r>
              <a:t>• Timestamp</a:t>
            </a:r>
            <a:br/>
            <a:r>
              <a:t>• Temperature (°C)</a:t>
            </a:r>
            <a:br/>
            <a:r>
              <a:t>• Relative humidity (%)</a:t>
            </a:r>
            <a:br/>
            <a:r>
              <a:t>• Fan state (ON/OFF)</a:t>
            </a:r>
            <a:br/>
            <a:r>
              <a:t>• Sample type and setup notes</a:t>
            </a:r>
            <a:br/>
            <a:r>
              <a:t>• Optional reference thermometer/hygrometer readings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356616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800" b="1">
                <a:solidFill>
                  <a:srgbClr val="12273F"/>
                </a:solidFill>
                <a:latin typeface="Aptos Display"/>
              </a:defRPr>
            </a:pPr>
            <a:r>
              <a:t>Tests to perform</a:t>
            </a:r>
          </a:p>
          <a:p>
            <a:pPr>
              <a:spcBef>
                <a:spcPts val="600"/>
              </a:spcBef>
              <a:defRPr sz="1500">
                <a:solidFill>
                  <a:srgbClr val="263038"/>
                </a:solidFill>
                <a:latin typeface="Aptos"/>
              </a:defRPr>
            </a:pPr>
            <a:r>
              <a:t>• Compare sensor readings with a reference instrument</a:t>
            </a:r>
            <a:br/>
            <a:r>
              <a:t>• Check readings at room conditions and during safe airflow tests</a:t>
            </a:r>
            <a:br/>
            <a:r>
              <a:t>• Confirm dashboard updates at the expected interval</a:t>
            </a:r>
            <a:br/>
            <a:r>
              <a:t>• Verify fan switches only when commanded</a:t>
            </a:r>
            <a:br/>
            <a:r>
              <a:t>• Check reconnect behaviour after Wi-Fi interruption</a:t>
            </a:r>
            <a:br/>
            <a:r>
              <a:t>• Repeat tests and note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273F"/>
                </a:solidFill>
                <a:latin typeface="Aptos"/>
              </a:defRPr>
            </a:pPr>
            <a:r>
              <a:t>Success criteria: readings are visible, timestamps are recorded, dashboard updates reliably, and fan control behaves as designed. Report actual results only after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9. Safety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Design the first prototype for safe, repeatable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675120" cy="4480560"/>
          </a:xfrm>
          <a:prstGeom prst="rect">
            <a:avLst/>
          </a:prstGeom>
          <a:noFill/>
        </p:spPr>
        <p:txBody>
          <a:bodyPr wrap="square" lIns="109728" rIns="73152" tIns="73152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38"/>
                </a:solidFill>
                <a:latin typeface="Aptos"/>
              </a:defRPr>
            </a:pPr>
            <a:r>
              <a:t>•  Keep the ESP32 and exposed electronics outside the hot, humid chamber.</a:t>
            </a:r>
          </a:p>
          <a:p>
            <a:pPr>
              <a:spcAft>
                <a:spcPts val="1000"/>
              </a:spcAft>
              <a:defRPr sz="1700">
                <a:solidFill>
                  <a:srgbClr val="263038"/>
                </a:solidFill>
                <a:latin typeface="Aptos"/>
              </a:defRPr>
            </a:pPr>
            <a:r>
              <a:t>•  Use low-voltage DC for the beginner prototype; avoid exposed mains AC wiring.</a:t>
            </a:r>
          </a:p>
          <a:p>
            <a:pPr>
              <a:spcAft>
                <a:spcPts val="1000"/>
              </a:spcAft>
              <a:defRPr sz="1700">
                <a:solidFill>
                  <a:srgbClr val="263038"/>
                </a:solidFill>
                <a:latin typeface="Aptos"/>
              </a:defRPr>
            </a:pPr>
            <a:r>
              <a:t>•  Do not power a fan directly from an ESP32 GPIO pin—use a suitable driver.</a:t>
            </a:r>
          </a:p>
          <a:p>
            <a:pPr>
              <a:spcAft>
                <a:spcPts val="1000"/>
              </a:spcAft>
              <a:defRPr sz="1700">
                <a:solidFill>
                  <a:srgbClr val="263038"/>
                </a:solidFill>
                <a:latin typeface="Aptos"/>
              </a:defRPr>
            </a:pPr>
            <a:r>
              <a:t>•  Check the sensor's temperature and humidity limits before testing.</a:t>
            </a:r>
          </a:p>
          <a:p>
            <a:pPr>
              <a:spcAft>
                <a:spcPts val="1000"/>
              </a:spcAft>
              <a:defRPr sz="1700">
                <a:solidFill>
                  <a:srgbClr val="263038"/>
                </a:solidFill>
                <a:latin typeface="Aptos"/>
              </a:defRPr>
            </a:pPr>
            <a:r>
              <a:t>•  A chamber humidity sensor measures air conditions, not the exact moisture content inside the food.</a:t>
            </a:r>
          </a:p>
          <a:p>
            <a:pPr>
              <a:spcAft>
                <a:spcPts val="1000"/>
              </a:spcAft>
              <a:defRPr sz="1700">
                <a:solidFill>
                  <a:srgbClr val="263038"/>
                </a:solidFill>
                <a:latin typeface="Aptos"/>
              </a:defRPr>
            </a:pPr>
            <a:r>
              <a:t>•  Colour change detection requires image capture, controlled lighting, and labelled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3474720" cy="2011680"/>
          </a:xfrm>
          <a:prstGeom prst="roundRect">
            <a:avLst/>
          </a:prstGeom>
          <a:solidFill>
            <a:srgbClr val="FCF4E8"/>
          </a:solidFill>
          <a:ln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800" b="1">
                <a:solidFill>
                  <a:srgbClr val="12273F"/>
                </a:solidFill>
                <a:latin typeface="Aptos Display"/>
              </a:defRPr>
            </a:pPr>
            <a:r>
              <a:t>Key limitation</a:t>
            </a:r>
          </a:p>
          <a:p>
            <a:pPr>
              <a:spcBef>
                <a:spcPts val="600"/>
              </a:spcBef>
              <a:defRPr sz="1400">
                <a:solidFill>
                  <a:srgbClr val="263038"/>
                </a:solidFill>
                <a:latin typeface="Aptos"/>
              </a:defRPr>
            </a:pPr>
            <a:r>
              <a:t>The first prototype monitors the drying environment. Direct moisture prediction and AI-based quality classification require additional sensors, data, and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10. Future development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How the IoT prototype can support the larger research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828800" cy="658368"/>
          </a:xfrm>
          <a:prstGeom prst="roundRect">
            <a:avLst/>
          </a:prstGeom>
          <a:solidFill>
            <a:srgbClr val="2B7D57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325880"/>
            <a:ext cx="2468880" cy="658368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IoT chamber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325880"/>
            <a:ext cx="5715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300" b="1">
                <a:solidFill>
                  <a:srgbClr val="12273F"/>
                </a:solidFill>
                <a:latin typeface="Aptos Display"/>
              </a:defRPr>
            </a:pPr>
            <a:r>
              <a:t>Temperature, humidity, dashboard, fan 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002536"/>
            <a:ext cx="0" cy="237744"/>
          </a:xfrm>
          <a:prstGeom prst="line">
            <a:avLst/>
          </a:prstGeom>
          <a:ln w="1905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286000"/>
            <a:ext cx="1828800" cy="658368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Phase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286000"/>
            <a:ext cx="2468880" cy="658368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Data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286000"/>
            <a:ext cx="5715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300" b="1">
                <a:solidFill>
                  <a:srgbClr val="12273F"/>
                </a:solidFill>
                <a:latin typeface="Aptos Display"/>
              </a:defRPr>
            </a:pPr>
            <a:r>
              <a:t>Collect repeatable drying runs and reference measurements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2962656"/>
            <a:ext cx="0" cy="237744"/>
          </a:xfrm>
          <a:prstGeom prst="line">
            <a:avLst/>
          </a:prstGeom>
          <a:ln w="1905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246120"/>
            <a:ext cx="1828800" cy="658368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Phase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3246120"/>
            <a:ext cx="2468880" cy="658368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Computer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246120"/>
            <a:ext cx="5715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300" b="1">
                <a:solidFill>
                  <a:srgbClr val="12273F"/>
                </a:solidFill>
                <a:latin typeface="Aptos Display"/>
              </a:defRPr>
            </a:pPr>
            <a:r>
              <a:t>RGB images under consistent lighting; colour/defect features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3922776"/>
            <a:ext cx="0" cy="237744"/>
          </a:xfrm>
          <a:prstGeom prst="line">
            <a:avLst/>
          </a:prstGeom>
          <a:ln w="1905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206240"/>
            <a:ext cx="1828800" cy="658368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Phase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206240"/>
            <a:ext cx="2468880" cy="658368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AI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4206240"/>
            <a:ext cx="5715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300" b="1">
                <a:solidFill>
                  <a:srgbClr val="12273F"/>
                </a:solidFill>
                <a:latin typeface="Aptos Display"/>
              </a:defRPr>
            </a:pPr>
            <a:r>
              <a:t>Train and validate dryness/colour models using labelled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45920" y="4882896"/>
            <a:ext cx="0" cy="237744"/>
          </a:xfrm>
          <a:prstGeom prst="line">
            <a:avLst/>
          </a:prstGeom>
          <a:ln w="19050">
            <a:solidFill>
              <a:srgbClr val="2B7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5166360"/>
            <a:ext cx="1828800" cy="658368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Phase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5166360"/>
            <a:ext cx="2468880" cy="658368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400" b="1">
                <a:solidFill>
                  <a:srgbClr val="12273F"/>
                </a:solidFill>
                <a:latin typeface="Aptos Display"/>
              </a:defRPr>
            </a:pPr>
            <a:r>
              <a:t>Multimodal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66360"/>
            <a:ext cx="5715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300" b="1">
                <a:solidFill>
                  <a:srgbClr val="12273F"/>
                </a:solidFill>
                <a:latin typeface="Aptos Display"/>
              </a:defRPr>
            </a:pPr>
            <a:r>
              <a:t>Consider thermal/NIR sensing only if useful and affordable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63640"/>
            <a:ext cx="104241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E534A"/>
                </a:solidFill>
                <a:latin typeface="Aptos"/>
              </a:defRPr>
            </a:pPr>
            <a:r>
              <a:t>Self-learning should mean a controlled update/retraining process using newly labelled and validated data—not automatic learning without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11. Estimated prototype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Approximate India retail prices; confirm before purchasing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1560" y="1417320"/>
          <a:ext cx="69494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377440"/>
              </a:tblGrid>
              <a:tr h="53721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227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Estimated cost</a:t>
                      </a:r>
                    </a:p>
                  </a:txBody>
                  <a:tcPr>
                    <a:solidFill>
                      <a:srgbClr val="12273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ESP32 DevKit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₹350–₹600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DHT22 or compatible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₹200–₹350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5 V DC fan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₹100–₹200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MOSFET driver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₹80–₹200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Breadboard + jumper wires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₹180–₹330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USB cable / compatible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₹150–₹300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Enclosure + mesh tray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038"/>
                          </a:solidFill>
                        </a:defRPr>
                      </a:pPr>
                      <a:r>
                        <a:t>₹300–₹950</a:t>
                      </a:r>
                    </a:p>
                  </a:txBody>
                  <a:tcPr>
                    <a:solidFill>
                      <a:srgbClr val="EFF6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66760" y="2011680"/>
            <a:ext cx="2743200" cy="155448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800" b="1">
                <a:solidFill>
                  <a:srgbClr val="12273F"/>
                </a:solidFill>
                <a:latin typeface="Aptos Display"/>
              </a:defRPr>
            </a:pPr>
            <a:r>
              <a:t>Expected total</a:t>
            </a:r>
          </a:p>
          <a:p>
            <a:pPr>
              <a:spcBef>
                <a:spcPts val="600"/>
              </a:spcBef>
              <a:defRPr sz="1500">
                <a:solidFill>
                  <a:srgbClr val="263038"/>
                </a:solidFill>
                <a:latin typeface="Aptos"/>
              </a:defRPr>
            </a:pPr>
            <a:r>
              <a:t>About ₹1,360–₹2,930</a:t>
            </a:r>
            <a:br/>
            <a:r>
              <a:t>(depending on parts already available)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977639"/>
            <a:ext cx="27432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E6C75"/>
                </a:solidFill>
                <a:latin typeface="Aptos"/>
              </a:defRPr>
            </a:pPr>
            <a:r>
              <a:t>Potential savings: reuse an existing enclosure, USB cable, or breadboard.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12.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What this first milestone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3383280" cy="1828800"/>
          </a:xfrm>
          <a:prstGeom prst="roundRect">
            <a:avLst/>
          </a:prstGeom>
          <a:solidFill>
            <a:srgbClr val="E8F2F8"/>
          </a:solidFill>
          <a:ln>
            <a:solidFill>
              <a:srgbClr val="498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Connected sensing</a:t>
            </a:r>
          </a:p>
          <a:p>
            <a:pPr>
              <a:spcBef>
                <a:spcPts val="600"/>
              </a:spcBef>
              <a:defRPr sz="1400">
                <a:solidFill>
                  <a:srgbClr val="263038"/>
                </a:solidFill>
                <a:latin typeface="Aptos"/>
              </a:defRPr>
            </a:pPr>
            <a:r>
              <a:t>Measure and transmit chamber temperature and humidity.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508760"/>
            <a:ext cx="3383280" cy="1828800"/>
          </a:xfrm>
          <a:prstGeom prst="roundRect">
            <a:avLst/>
          </a:prstGeom>
          <a:solidFill>
            <a:srgbClr val="EFF6F0"/>
          </a:solidFill>
          <a:ln>
            <a:solidFill>
              <a:srgbClr val="2B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Monitoring + control</a:t>
            </a:r>
          </a:p>
          <a:p>
            <a:pPr>
              <a:spcBef>
                <a:spcPts val="600"/>
              </a:spcBef>
              <a:defRPr sz="1400">
                <a:solidFill>
                  <a:srgbClr val="263038"/>
                </a:solidFill>
                <a:latin typeface="Aptos"/>
              </a:defRPr>
            </a:pPr>
            <a:r>
              <a:t>Visualise trends and optionally control a low-voltage fan.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508760"/>
            <a:ext cx="3383280" cy="1828800"/>
          </a:xfrm>
          <a:prstGeom prst="roundRect">
            <a:avLst/>
          </a:prstGeom>
          <a:solidFill>
            <a:srgbClr val="FCF4E8"/>
          </a:solidFill>
          <a:ln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 bIns="73152"/>
          <a:lstStyle/>
          <a:p>
            <a:pPr algn="ctr">
              <a:defRPr sz="1700" b="1">
                <a:solidFill>
                  <a:srgbClr val="12273F"/>
                </a:solidFill>
                <a:latin typeface="Aptos Display"/>
              </a:defRPr>
            </a:pPr>
            <a:r>
              <a:t>Foundation for AI</a:t>
            </a:r>
          </a:p>
          <a:p>
            <a:pPr>
              <a:spcBef>
                <a:spcPts val="600"/>
              </a:spcBef>
              <a:defRPr sz="1400">
                <a:solidFill>
                  <a:srgbClr val="263038"/>
                </a:solidFill>
                <a:latin typeface="Aptos"/>
              </a:defRPr>
            </a:pPr>
            <a:r>
              <a:t>Create a reliable data-collection base for future produce-quality research.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2412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2273F"/>
                </a:solidFill>
                <a:latin typeface="Aptos"/>
              </a:defRPr>
            </a:pPr>
            <a:r>
              <a:t>The immediate aim is a working, tested IoT prototype. The larger vision is to combine environmental data, images, and validated measurements to study drying and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2B7D57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2273F"/>
                </a:solidFill>
                <a:latin typeface="Aptos"/>
              </a:defRPr>
            </a:pPr>
            <a:r>
              <a:t>Presenter guide: how to explain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960120" cy="54864"/>
          </a:xfrm>
          <a:prstGeom prst="rect">
            <a:avLst/>
          </a:prstGeom>
          <a:solidFill>
            <a:srgbClr val="2B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5"/>
                </a:solidFill>
                <a:latin typeface="Aptos"/>
              </a:defRPr>
            </a:pPr>
            <a:r>
              <a:t>Use these simple points while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772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5"/>
                </a:solidFill>
                <a:latin typeface="Aptos"/>
              </a:defRPr>
            </a:pPr>
            <a:r>
              <a:t>IoT Smart Drying Chamber |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 lIns="109728" rIns="73152" t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Start: “I am proposing a small IoT drying chamber as the first step toward my agricultural AI project.”</a:t>
            </a:r>
          </a:p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Problem: explain that temperature and humidity change during drying, and manual checks do not give continuous data.</a:t>
            </a:r>
          </a:p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Solution: describe the sensor → ESP32 → Wi-Fi dashboard flow, then explain optional fan control.</a:t>
            </a:r>
          </a:p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Components: explain the role of the ESP32, temperature/humidity sensor, fan driver, fan, and chamber.</a:t>
            </a:r>
          </a:p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Testing: say you will compare readings, check dashboard updates, and test fan control before reporting results.</a:t>
            </a:r>
          </a:p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Future work: explain that camera-based colour analysis and product-moisture estimation need more data and validation.</a:t>
            </a:r>
          </a:p>
          <a:p>
            <a:pPr>
              <a:spcAft>
                <a:spcPts val="1000"/>
              </a:spcAft>
              <a:defRPr sz="1500">
                <a:solidFill>
                  <a:srgbClr val="263038"/>
                </a:solidFill>
                <a:latin typeface="Aptos"/>
              </a:defRPr>
            </a:pPr>
            <a:r>
              <a:t>•  Be clear: call this a proposed prototype until you have built and tested it; do not present planned features as completed.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